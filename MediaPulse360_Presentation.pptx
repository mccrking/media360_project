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Data Sources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Les articles viennent de quatre flux RSS complémentaires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BBC News apporte une veille internationale.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Reuters couvre les grandes actualites mondiales.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Hespress ajoute la dimension marocaine et francophone.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France24 complete la couverture avec des articles francophones.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 objectif est de suivre plusieurs points de vue au meme endroit.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Vue synthétique des principales sources</a:t>
            </a:r>
          </a:p>
        </p:txBody>
      </p:sp>
      <p:pic>
        <p:nvPicPr>
          <p:cNvPr id="9" name="Picture 8" descr="viz_1_data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26017"/>
            <a:ext cx="5760720" cy="3240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Ingestion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Les contenus sont récupérés, vérifiés et déposés dans le premier niveau de stockage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 scraper lit les flux RSS de façon régulière.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Chaque article est transformé en enregistrement brut.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contenus suspects peuvent être mis en quarantaine.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 flux reste traçable du début à la fin.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Chaîne de collecte et de dépôt</a:t>
            </a:r>
          </a:p>
        </p:txBody>
      </p:sp>
      <p:pic>
        <p:nvPicPr>
          <p:cNvPr id="9" name="Picture 8" descr="viz_2_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26017"/>
            <a:ext cx="5760720" cy="32404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Data Lake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MinIO conserve les fichiers à chaque étape pour garder l historique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Bronze contient les données brutes.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Silver contient les données nettoyées.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Gold contient les résultats prêts à lire.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 architecture permet de conserver l historique complet.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Interface du data lake MinIO</a:t>
            </a:r>
          </a:p>
        </p:txBody>
      </p:sp>
      <p:pic>
        <p:nvPicPr>
          <p:cNvPr id="9" name="Picture 8" descr="minio_browse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3260667"/>
            <a:ext cx="5760720" cy="1571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Architecture Médaillon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Du brut à l analyse, chaque couche a un rôle précis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Bronze garde les données telles qu elles arrivent.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Silver nettoie le texte et standardise les champs.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Gold produit des tableaux de synthèse et des indicateurs.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Cette méthode rend le pipeline plus lisible et plus robuste.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Schéma des trois couches de traitement</a:t>
            </a:r>
          </a:p>
        </p:txBody>
      </p:sp>
      <p:pic>
        <p:nvPicPr>
          <p:cNvPr id="9" name="Picture 8" descr="viz_4_medall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26017"/>
            <a:ext cx="5760720" cy="3240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Transformation des données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Le texte est nettoyé avant toute analyse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On supprime le HTML et les éléments inutiles.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On normalise les espaces, les accents et la casse.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On calcule la longueur, le nombre de mots et la langue.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On attribue un score de qualité à chaque article.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Avant / après nettoyage</a:t>
            </a:r>
          </a:p>
        </p:txBody>
      </p:sp>
      <p:pic>
        <p:nvPicPr>
          <p:cNvPr id="9" name="Picture 8" descr="viz_5_trans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26017"/>
            <a:ext cx="5760720" cy="32404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Orchestration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Airflow enchaîne les étapes automatiquement et permet le suivi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 DAG mediapulse360_pipeline s execute chaque heure.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Il lance la collecte, puis le nettoyage, puis les agrégations.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tâches de contrôle qualité et de métriques suivent ensuite.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 interface Airflow permet de voir l état des exécutions.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Interface Airflow de pilotage</a:t>
            </a:r>
          </a:p>
        </p:txBody>
      </p:sp>
      <p:pic>
        <p:nvPicPr>
          <p:cNvPr id="9" name="Picture 8" descr="airflow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143399"/>
            <a:ext cx="5760720" cy="38056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Data Warehouse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Les données consolidées sont rangées pour les analyses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PostgreSQL sert de base analytique principale.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tables regroupent les articles par source, thème et date.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mots-clés les plus fréquents sont aussi calculés.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requêtes restent simples pour alimenter les tableaux de bord.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Tables et usage du warehouse</a:t>
            </a:r>
          </a:p>
        </p:txBody>
      </p:sp>
      <p:pic>
        <p:nvPicPr>
          <p:cNvPr id="9" name="Picture 8" descr="viz_7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26017"/>
            <a:ext cx="5760720" cy="3240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Visualisation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Le tableau de bord rend les résultats faciles à lire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 utilisateur peut filtrer par source et par période.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cartes KPI donnent une lecture rapide de la situation.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graphiques aident à repérer les tendances importantes.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titres d articles restent cliquables pour aller à la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Capture du dashboard Streamlit</a:t>
            </a:r>
          </a:p>
        </p:txBody>
      </p:sp>
      <p:pic>
        <p:nvPicPr>
          <p:cNvPr id="9" name="Picture 8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3260667"/>
            <a:ext cx="5760720" cy="1571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Qualité des données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Les contrôles automatiques vérifient si les données sont propres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La complétude vérifie les champs manquants.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La cohérence s assure que les références sont correctes.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La validité évite les dates ou valeurs impossibles.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 rapport final montre un niveau de qualité à 100 pour les trois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Rapport de qualité</a:t>
            </a:r>
          </a:p>
        </p:txBody>
      </p:sp>
      <p:pic>
        <p:nvPicPr>
          <p:cNvPr id="9" name="Picture 8" descr="viz_9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26017"/>
            <a:ext cx="5760720" cy="3240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8FAFC"/>
                </a:solidFill>
                <a:latin typeface="Arial"/>
              </a:rPr>
              <a:t>Gouvernance</a:t>
            </a:r>
          </a:p>
          <a:p>
            <a:r>
              <a:rPr sz="1500" b="0" i="0">
                <a:solidFill>
                  <a:srgbClr val="BFCCDC"/>
                </a:solidFill>
                <a:latin typeface="Arial"/>
              </a:rPr>
              <a:t>La traçabilité permet de savoir d ou viennent les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11338560" cy="27432"/>
          </a:xfrm>
          <a:prstGeom prst="rect">
            <a:avLst/>
          </a:prstGeom>
          <a:solidFill>
            <a:srgbClr val="18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4846320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2976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 qu il faut retenir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 lineage relie la source, le bronze, le silver, le gold et le warehouse.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Chaque étape est documentée pour faciliter la vérification.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Les actions importantes sont historisées dans les fichiers de gouvernance.</a:t>
            </a:r>
          </a:p>
          <a:p>
            <a:pPr>
              <a:spcAft>
                <a:spcPts val="800"/>
              </a:spcAft>
              <a:defRPr>
                <a:latin typeface="Arial"/>
              </a:defRPr>
            </a:pPr>
            <a:r>
              <a:rPr sz="1800" b="0" i="0">
                <a:solidFill>
                  <a:srgbClr val="F8FAFC"/>
                </a:solidFill>
                <a:latin typeface="Arial"/>
              </a:rPr>
              <a:t>Cela aide à expliquer le résultat même à un public non technique.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6291072" cy="5074920"/>
          </a:xfrm>
          <a:prstGeom prst="roundRect">
            <a:avLst/>
          </a:prstGeom>
          <a:solidFill>
            <a:srgbClr val="121D33"/>
          </a:solidFill>
          <a:ln w="19050">
            <a:solidFill>
              <a:srgbClr val="29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0020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ACC15"/>
                </a:solidFill>
                <a:latin typeface="Arial"/>
              </a:rPr>
              <a:t>Traçabilité de bout en bout</a:t>
            </a:r>
          </a:p>
        </p:txBody>
      </p:sp>
      <p:pic>
        <p:nvPicPr>
          <p:cNvPr id="9" name="Picture 8" descr="viz_10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26017"/>
            <a:ext cx="5760720" cy="32404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